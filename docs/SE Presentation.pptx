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1" r:id="rId2"/>
    <p:sldId id="2562" r:id="rId3"/>
    <p:sldId id="2563" r:id="rId4"/>
    <p:sldId id="2564" r:id="rId5"/>
    <p:sldId id="2565" r:id="rId6"/>
    <p:sldId id="2566" r:id="rId7"/>
    <p:sldId id="2567" r:id="rId8"/>
    <p:sldId id="2568" r:id="rId9"/>
    <p:sldId id="2569" r:id="rId10"/>
    <p:sldId id="2570" r:id="rId11"/>
    <p:sldId id="2571" r:id="rId12"/>
    <p:sldId id="2572" r:id="rId13"/>
    <p:sldId id="2573" r:id="rId14"/>
    <p:sldId id="2574" r:id="rId15"/>
    <p:sldId id="25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 Review Rating Prediction System – Project Overview" id="{5279A96B-9F7F-4AEB-A4BC-488453AF1ACB}">
          <p14:sldIdLst>
            <p14:sldId id="2561"/>
          </p14:sldIdLst>
        </p14:section>
        <p14:section name="Introduction and Project Overview" id="{24E7D7A7-79A6-42BB-A56D-B1A51C638453}">
          <p14:sldIdLst>
            <p14:sldId id="2562"/>
            <p14:sldId id="2563"/>
            <p14:sldId id="2564"/>
          </p14:sldIdLst>
        </p14:section>
        <p14:section name="Phase 1 – Problem Understanding and Requirements" id="{CB50E45F-769E-469C-8046-FBF3B3991511}">
          <p14:sldIdLst>
            <p14:sldId id="2565"/>
            <p14:sldId id="2566"/>
          </p14:sldIdLst>
        </p14:section>
        <p14:section name="Phase 2 – Architecture and Planning" id="{6D2361B5-F231-4DAA-98DD-D305AA77553A}">
          <p14:sldIdLst>
            <p14:sldId id="2567"/>
            <p14:sldId id="2568"/>
          </p14:sldIdLst>
        </p14:section>
        <p14:section name="Phase 3 – Modeling and Experimentation" id="{957BC86F-8FB2-4C0A-B62C-4671B5309F64}">
          <p14:sldIdLst>
            <p14:sldId id="2569"/>
            <p14:sldId id="2570"/>
            <p14:sldId id="2571"/>
          </p14:sldIdLst>
        </p14:section>
        <p14:section name="Challenges, Learnings, and Comparative Outcomes" id="{8F25146F-15AD-4224-BB63-7C70808B4CCA}">
          <p14:sldIdLst>
            <p14:sldId id="2572"/>
            <p14:sldId id="2573"/>
          </p14:sldIdLst>
        </p14:section>
        <p14:section name="Conclusion and Final Outcomes" id="{F9D763EF-9BAF-47EA-9A93-31CDFA29DD8E}">
          <p14:sldIdLst>
            <p14:sldId id="2574"/>
            <p14:sldId id="25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2857"/>
  </p:normalViewPr>
  <p:slideViewPr>
    <p:cSldViewPr snapToGrid="0">
      <p:cViewPr varScale="1">
        <p:scale>
          <a:sx n="112" d="100"/>
          <a:sy n="112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52AB9-4806-4681-81D1-53ECC499E441}" type="datetimeFigureOut">
              <a:t>4/26/26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0AF31-1B2F-42ED-B24B-A899A86B226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29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351BB-683A-429D-B87C-42947181818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351BB-683A-429D-B87C-429471818186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39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351BB-683A-429D-B87C-429471818186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45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351BB-683A-429D-B87C-429471818186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70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351BB-683A-429D-B87C-429471818186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94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351BB-683A-429D-B87C-429471818186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16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351BB-683A-429D-B87C-429471818186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70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351BB-683A-429D-B87C-429471818186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70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351BB-683A-429D-B87C-429471818186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19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351BB-683A-429D-B87C-429471818186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17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351BB-683A-429D-B87C-429471818186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83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351BB-683A-429D-B87C-429471818186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363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351BB-683A-429D-B87C-429471818186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706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351BB-683A-429D-B87C-429471818186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797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351BB-683A-429D-B87C-429471818186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24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9EADE56-83C3-A0FE-16E6-4951D4852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2" y="1129552"/>
            <a:ext cx="6305441" cy="3475237"/>
          </a:xfrm>
        </p:spPr>
        <p:txBody>
          <a:bodyPr anchor="b">
            <a:normAutofit/>
          </a:bodyPr>
          <a:lstStyle>
            <a:lvl1pPr>
              <a:defRPr sz="5400" baseline="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A12605A-4E59-2133-7372-7B21BC55C9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69150" y="4730750"/>
            <a:ext cx="4205288" cy="11858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26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D96F6A0-07FF-1828-19D1-FE1D9B921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40"/>
            <a:ext cx="11060134" cy="73152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1463040"/>
            <a:ext cx="11064240" cy="493776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1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858000"/>
          </a:xfrm>
          <a:blipFill>
            <a:blip r:embed="rId2">
              <a:alphaModFix amt="70000"/>
            </a:blip>
            <a:stretch>
              <a:fillRect l="-1" r="-1"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59CFCC-A209-BC62-7D95-E14802747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78236"/>
            <a:ext cx="11460480" cy="1005840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A8C58E-A6CA-D397-8711-C68CD070C4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3460" y="5668625"/>
            <a:ext cx="10813415" cy="48037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2287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FCD2E37-9854-D80D-B906-C29C37FAA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8" y="411480"/>
            <a:ext cx="6309360" cy="3739896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27C0618-21FB-9390-740F-2734A4B2C2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5125" y="4873625"/>
            <a:ext cx="4206875" cy="1381125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281F2-D41E-9A50-1809-3B8BE4C397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914400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7431-3702-2B75-B5FF-84422A85DB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61086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3A420-FE13-2F4D-C208-338D8B00A6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95519" y="6453002"/>
            <a:ext cx="379443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22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19ACF5-397A-E5C4-7B24-185F5D614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78236"/>
            <a:ext cx="11460480" cy="1005840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94DB79-4401-7DDD-FF63-CDCECE6DBD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51560" y="5668963"/>
            <a:ext cx="10775315" cy="47942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5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25BA9F2-E4EE-DC00-38EB-9DB37D8DB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8229600" cy="3635796"/>
          </a:xfrm>
        </p:spPr>
        <p:txBody>
          <a:bodyPr>
            <a:noAutofit/>
          </a:bodyPr>
          <a:lstStyle>
            <a:lvl1pPr>
              <a:defRPr sz="72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A4A78EC-6E25-CB64-8758-D3143F0EC5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4473575"/>
            <a:ext cx="6654800" cy="1544638"/>
          </a:xfrm>
        </p:spPr>
        <p:txBody>
          <a:bodyPr anchor="b">
            <a:norm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13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3CF6B10-9A05-A63E-2BC3-C8D55D0D2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54238"/>
            <a:ext cx="7876287" cy="3592629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FA8333A-04DC-D74B-258C-1EB6D22D4B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4616450"/>
            <a:ext cx="7377113" cy="1016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10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890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C495B9-31B7-A921-454B-E736C53FF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801368"/>
            <a:ext cx="8602201" cy="4572000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  <a:highlight>
                  <a:srgbClr val="FFFFFF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F88F44-4C4F-85C2-1FE6-2123E528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85237"/>
            <a:ext cx="3494314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4/26/26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4FA8B22-3C74-0DF4-C4FE-B5F3DD109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47493" y="85237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EEDE28-9EB0-1179-9BB8-354B44AFC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1926" y="85237"/>
            <a:ext cx="379443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64108"/>
            <a:ext cx="8467558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90261" y="2560320"/>
            <a:ext cx="7489944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1028700" indent="-342900">
              <a:buFont typeface="+mj-lt"/>
              <a:buAutoNum type="arabicParenR"/>
              <a:defRPr sz="1400"/>
            </a:lvl4pPr>
            <a:lvl5pPr marL="1257300" indent="-342900">
              <a:buFont typeface="+mj-lt"/>
              <a:buAutoNum type="alphaL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26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EE9D05A-2BD6-0F92-5A5D-FFA6FFF54EA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7050" y="0"/>
            <a:ext cx="658495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64108"/>
            <a:ext cx="7007353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1792" y="2560318"/>
            <a:ext cx="4381756" cy="384048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1028700" indent="-342900">
              <a:buFont typeface="+mj-lt"/>
              <a:buAutoNum type="arabicParenR"/>
              <a:defRPr sz="1400"/>
            </a:lvl4pPr>
            <a:lvl5pPr marL="1257300" indent="-342900">
              <a:buFont typeface="+mj-lt"/>
              <a:buAutoNum type="alphaLcParenR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731520" cy="365125"/>
          </a:xfrm>
        </p:spPr>
        <p:txBody>
          <a:bodyPr/>
          <a:lstStyle/>
          <a:p>
            <a:fld id="{8A60B404-9532-4DA8-8A40-EC339A5BE635}" type="datetime1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4098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9500" y="6453002"/>
            <a:ext cx="38404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47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3947E4-0E5A-6C3B-F8B1-906CCD4AF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172968"/>
            <a:ext cx="438912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653C462-6951-9D34-B643-4C411CF5B04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2784" y="3172523"/>
            <a:ext cx="4572000" cy="228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FC12-63BB-4A63-9424-BFBF8E1D71D9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37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172968"/>
            <a:ext cx="4389120" cy="32004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3172968"/>
            <a:ext cx="4325112" cy="32004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4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40"/>
            <a:ext cx="3840480" cy="420624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7" y="548640"/>
            <a:ext cx="566928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23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40"/>
            <a:ext cx="4145582" cy="539496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548640"/>
            <a:ext cx="5681662" cy="5394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79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40"/>
            <a:ext cx="3749040" cy="576072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0" y="548640"/>
            <a:ext cx="7223760" cy="5760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50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61034" y="0"/>
            <a:ext cx="8030965" cy="6858000"/>
          </a:xfrm>
          <a:blipFill>
            <a:blip r:embed="rId2">
              <a:alphaModFix amt="70000"/>
            </a:blip>
            <a:stretch>
              <a:fillRect l="58" t="1" b="-8023"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40"/>
            <a:ext cx="5070955" cy="246888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792" y="3172968"/>
            <a:ext cx="3273552" cy="28895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635C43F-DBB1-4D83-B442-E1529AA900C2}" type="datetime1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1945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1742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757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CFBEC6DB-65AC-E7B8-5B01-86A24AC4A9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030965" cy="6858000"/>
          </a:xfrm>
          <a:blipFill>
            <a:blip r:embed="rId2">
              <a:alphaModFix amt="70000"/>
            </a:blip>
            <a:stretch>
              <a:fillRect l="58" t="1" b="-8023"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648" y="548639"/>
            <a:ext cx="4757112" cy="246888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7202" y="3168722"/>
            <a:ext cx="3273552" cy="2884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0814F-321B-0961-76C0-D43819D01B7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321040" y="6453002"/>
            <a:ext cx="1097280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4/26/26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F9EDD3-41A3-11D1-DCB0-9A8126C5D7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418320" y="6453002"/>
            <a:ext cx="2234578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89D9E49-2211-8D1A-C39E-2884056E6C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084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67" y="3939967"/>
            <a:ext cx="4297680" cy="2462630"/>
          </a:xfrm>
        </p:spPr>
        <p:txBody>
          <a:bodyPr anchor="t" anchorCtr="0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715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713A3F4-E223-745E-5A5E-95DF707B229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5484" y="548639"/>
            <a:ext cx="4948747" cy="155448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56079"/>
            <a:ext cx="3401568" cy="405264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E7F2C8-9BB5-5A36-DB20-9787777B532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212790" y="6453002"/>
            <a:ext cx="700122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82E6E-2852-09FE-EC5A-6731A616887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9981282" y="6453002"/>
            <a:ext cx="1671616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912C2-0382-F60C-2417-551BD5AC333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46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713A3F4-E223-745E-5A5E-95DF707B229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39"/>
            <a:ext cx="4937760" cy="146304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792" y="2256079"/>
            <a:ext cx="3401568" cy="405264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0E7DDD-6501-D485-19E0-E21C13045FC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C5AD7-9689-4766-9146-F208F76BCED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71151" y="6453002"/>
            <a:ext cx="1561447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21F3F-3845-6D40-C9D6-BE26C3852D5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3661626" y="6453002"/>
            <a:ext cx="379443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2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9768" y="548640"/>
            <a:ext cx="6217920" cy="1425587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73829" y="2103120"/>
            <a:ext cx="4572000" cy="4297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7EAF46-1E68-65AC-7FFE-0B11DA3B892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73829" y="6453002"/>
            <a:ext cx="914400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592920-42E4-564A-FF10-87A61B290C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2E3C91-6E96-4B5B-04BF-42DADB9290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506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6053957" cy="146304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103120"/>
            <a:ext cx="4572000" cy="4297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F9E2B8-D05E-4F3F-12A0-E5305B9DFC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A3C70-C3A2-760D-DB41-E2BD236A99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83968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ECB50E-B5F6-7D99-DDA6-E940617BD39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18401" y="6453002"/>
            <a:ext cx="379443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049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2831865"/>
            <a:ext cx="3291840" cy="3097879"/>
          </a:xfrm>
        </p:spPr>
        <p:txBody>
          <a:bodyPr anchor="t" anchorCtr="0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0010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 dirty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48640"/>
            <a:ext cx="3296110" cy="3464709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6917F9-B16A-7D27-FCAF-B93E50E4D6C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82296"/>
            <a:ext cx="914400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941E9-FB5D-31CC-0E61-E72E8858EF1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47493" y="82296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528D2-D050-4FE8-C06B-79E43D61A3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81926" y="82296"/>
            <a:ext cx="379443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19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2062" y="548640"/>
            <a:ext cx="7738491" cy="114300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C6081-2309-5F36-0983-5C010DC1163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914400" cy="365125"/>
          </a:xfrm>
        </p:spPr>
        <p:txBody>
          <a:bodyPr/>
          <a:lstStyle/>
          <a:p>
            <a:fld id="{D291CE83-67BA-4B15-B48A-7DC5C0636664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B736B-B406-9A7E-22AA-76A4D50B1C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79AEA-65CD-C53A-46A6-3E0B7750C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496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8640"/>
            <a:ext cx="7717317" cy="114300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792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8995C-B2A0-2BD9-5A1B-B88CE0265AA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089E1-B2B6-08A8-5859-8FDDB86379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645573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5AF9F-BF31-C7BB-740C-349D3B0D62A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480006" y="6453002"/>
            <a:ext cx="379443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615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03504"/>
            <a:ext cx="10964029" cy="1005840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792" y="1828800"/>
            <a:ext cx="557784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48059" y="1828798"/>
            <a:ext cx="4937761" cy="4480561"/>
          </a:xfrm>
          <a:blipFill>
            <a:blip r:embed="rId2">
              <a:alphaModFix amt="70000"/>
            </a:blip>
            <a:stretch>
              <a:fillRect l="-650" t="-6123" b="1"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D90A4-3BB5-5BF3-1AE7-84F335478E7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8C3D3-AC9B-D17D-77D4-AC4732E81C0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867DB-1F5E-6695-55B8-5974C08DD3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623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03503"/>
            <a:ext cx="10963656" cy="1005840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792" y="1828800"/>
            <a:ext cx="6446520" cy="44256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62088" y="1828800"/>
            <a:ext cx="4023360" cy="4428871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33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1005840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3B5F72B-0708-4E77-756F-A5A83827C6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792" y="1828798"/>
            <a:ext cx="4937761" cy="4480561"/>
          </a:xfrm>
          <a:blipFill>
            <a:blip r:embed="rId2">
              <a:alphaModFix amt="70000"/>
            </a:blip>
            <a:stretch>
              <a:fillRect l="-185" t="-6123" b="1"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2373" y="1828800"/>
            <a:ext cx="557784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147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US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1537" y="320039"/>
            <a:ext cx="8502199" cy="1258389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725386"/>
            <a:ext cx="6858000" cy="4638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1A5F77D0-C28E-4573-88F0-0A30FF98888E}" type="datetime1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6163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US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8400908" cy="1261872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728870"/>
            <a:ext cx="6858000" cy="46353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45D377-13FB-4841-FF6E-B9BD15CCC94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58E07-B079-D675-1C8D-4728A21EA97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75493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DC5B2-0CA1-6496-FDE3-6FA015A4EE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109926" y="6453002"/>
            <a:ext cx="379443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137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46804" y="2427156"/>
            <a:ext cx="4186010" cy="3905381"/>
          </a:xfrm>
          <a:blipFill>
            <a:blip r:embed="rId2">
              <a:alphaModFix amt="70000"/>
            </a:blip>
            <a:stretch>
              <a:fillRect l="-718" r="1"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1" y="548638"/>
            <a:ext cx="5111021" cy="2492735"/>
          </a:xfrm>
        </p:spPr>
        <p:txBody>
          <a:bodyPr anchor="t" anchorCtr="0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639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46803" y="2295144"/>
            <a:ext cx="3085185" cy="4041648"/>
          </a:xfrm>
          <a:blipFill>
            <a:blip r:embed="rId2">
              <a:alphaModFix amt="70000"/>
            </a:blip>
            <a:stretch>
              <a:fillRect l="-974" r="1"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549274"/>
            <a:ext cx="4023360" cy="2743200"/>
          </a:xfrm>
        </p:spPr>
        <p:txBody>
          <a:bodyPr anchor="t" anchorCtr="0">
            <a:noAutofit/>
          </a:bodyPr>
          <a:lstStyle>
            <a:lvl1pPr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086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BFB767-CAF2-628B-7675-91B983B225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0172699" cy="50673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US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FF197-4D72-4945-8068-57D52018E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914399"/>
            <a:ext cx="5448300" cy="3117553"/>
          </a:xfrm>
        </p:spPr>
        <p:txBody>
          <a:bodyPr anchor="t">
            <a:normAutofit/>
          </a:bodyPr>
          <a:lstStyle>
            <a:lvl1pPr algn="r"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81FA8-039D-4BAF-8AAB-7B6616AFE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1" y="5560042"/>
            <a:ext cx="8271878" cy="542344"/>
          </a:xfrm>
        </p:spPr>
        <p:txBody>
          <a:bodyPr/>
          <a:lstStyle>
            <a:lvl1pPr marL="0" indent="0" algn="r">
              <a:buNone/>
              <a:defRPr lang="en-US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58DE0-2D5A-4C5D-BB9F-60B17AEDD2D8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107C-2248-4498-B52C-AA96C6729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22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BFB767-CAF2-628B-7675-91B983B225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76700" cy="419342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FF197-4D72-4945-8068-57D52018E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91" y="3786474"/>
            <a:ext cx="4169890" cy="1614008"/>
          </a:xfrm>
        </p:spPr>
        <p:txBody>
          <a:bodyPr anchor="t">
            <a:noAutofit/>
          </a:bodyPr>
          <a:lstStyle>
            <a:lvl1pPr algn="r">
              <a:defRPr sz="40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40C7A95-E12A-CD85-629E-0A9E34DCE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9291" y="914400"/>
            <a:ext cx="5773936" cy="5029200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58DE0-2D5A-4C5D-BB9F-60B17AEDD2D8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107C-2248-4498-B52C-AA96C6729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339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BFB767-CAF2-628B-7675-91B983B225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811529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/>
              <a:t>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34B03A4-39B7-F5C1-D964-CA069C0F7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647698"/>
            <a:ext cx="4225166" cy="2420757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40C7A95-E12A-CD85-629E-0A9E34DCE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4931" y="647699"/>
            <a:ext cx="2689367" cy="5562599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  <a:lvl2pPr marL="514350" indent="-285750">
              <a:buFont typeface="Arial" panose="020B0604020202020204" pitchFamily="34" charset="0"/>
              <a:buChar char="•"/>
              <a:defRPr/>
            </a:lvl2pPr>
            <a:lvl3pPr marL="742950" indent="-285750">
              <a:buFont typeface="Arial" panose="020B0604020202020204" pitchFamily="34" charset="0"/>
              <a:buChar char="•"/>
              <a:defRPr/>
            </a:lvl3pPr>
            <a:lvl4pPr marL="971550" indent="-285750">
              <a:buFont typeface="Arial" panose="020B0604020202020204" pitchFamily="34" charset="0"/>
              <a:buChar char="•"/>
              <a:defRPr/>
            </a:lvl4pPr>
            <a:lvl5pPr marL="10858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58DE0-2D5A-4C5D-BB9F-60B17AEDD2D8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107C-2248-4498-B52C-AA96C6729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489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BFB767-CAF2-628B-7675-91B983B225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981200" y="0"/>
            <a:ext cx="10210798" cy="50673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B520403-BDFD-00AF-7685-E3C2366A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47700"/>
            <a:ext cx="5181600" cy="259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DFE5C8-DAB2-CA31-6958-050610D77A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93888" y="5559425"/>
            <a:ext cx="8278812" cy="65087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58DE0-2D5A-4C5D-BB9F-60B17AEDD2D8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107C-2248-4498-B52C-AA96C6729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701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BFB767-CAF2-628B-7675-91B983B225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9342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A48BCDE-4694-0B11-3F5D-030F758E5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2" y="1712200"/>
            <a:ext cx="6019892" cy="1896956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E27908E-38A7-B900-61E8-3AB5DD0862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96000" y="4672013"/>
            <a:ext cx="5448300" cy="1538287"/>
          </a:xfrm>
        </p:spPr>
        <p:txBody>
          <a:bodyPr anchor="t">
            <a:normAutofit fontScale="85000" lnSpcReduction="10000"/>
          </a:bodyPr>
          <a:lstStyle/>
          <a:p>
            <a:pPr marL="0" lvl="0" indent="0" algn="r">
              <a:buNone/>
            </a:pPr>
            <a:r>
              <a:rPr lang="en-US" sz="200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58DE0-2D5A-4C5D-BB9F-60B17AEDD2D8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107C-2248-4498-B52C-AA96C6729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687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8E65BD-66C5-5FF8-C229-BB94A762D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6916" y="646438"/>
            <a:ext cx="4199074" cy="4641176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800" b="0" cap="none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2A23D75-581D-5D22-B65B-6248EE14840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9750" y="566739"/>
            <a:ext cx="6427788" cy="566831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3200" b="1" spc="600" baseline="0">
                <a:solidFill>
                  <a:schemeClr val="bg1"/>
                </a:solidFill>
                <a:highlight>
                  <a:srgbClr val="000000"/>
                </a:highlight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65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DA5FB0-3233-6F76-899A-A1958FBA8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480" y="5120640"/>
            <a:ext cx="8321040" cy="1188720"/>
          </a:xfrm>
        </p:spPr>
        <p:txBody>
          <a:bodyPr>
            <a:norm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sz="2800" b="0" cap="none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964560E1-132E-6944-7C66-491949C93C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906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3200" b="1" cap="all" spc="6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7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EC46D51-F742-0411-C425-9FB4333D8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937760"/>
            <a:ext cx="7525512" cy="1371600"/>
          </a:xfrm>
        </p:spPr>
        <p:txBody>
          <a:bodyPr>
            <a:norm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sz="2800" b="0" cap="none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C6CC1002-9B76-86F0-267A-B8FA2E4F68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90614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3200" b="1" cap="all" spc="600" baseline="0">
                <a:solidFill>
                  <a:schemeClr val="bg1"/>
                </a:solidFill>
                <a:highlight>
                  <a:srgbClr val="FFFFFF"/>
                </a:highlight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16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-1315405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961120" cy="557784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6000" b="1" i="0" spc="600" baseline="0">
                <a:solidFill>
                  <a:schemeClr val="bg1"/>
                </a:solidFill>
                <a:highlight>
                  <a:srgbClr val="000000"/>
                </a:highlight>
                <a:latin typeface="Franklin Gothic Heavy" panose="020B0603020102020204" pitchFamily="34" charset="0"/>
              </a:defRPr>
            </a:lvl1pPr>
            <a:lvl2pPr marL="228600" indent="0">
              <a:lnSpc>
                <a:spcPct val="100000"/>
              </a:lnSpc>
              <a:buNone/>
              <a:defRPr sz="5400" b="1" i="0" spc="600" baseline="0">
                <a:solidFill>
                  <a:schemeClr val="bg1"/>
                </a:solidFill>
                <a:highlight>
                  <a:srgbClr val="000000"/>
                </a:highlight>
                <a:latin typeface="Franklin Gothic Heavy" panose="020B0603020102020204" pitchFamily="34" charset="0"/>
              </a:defRPr>
            </a:lvl2pPr>
            <a:lvl3pPr marL="457200" indent="0">
              <a:lnSpc>
                <a:spcPct val="100000"/>
              </a:lnSpc>
              <a:buNone/>
              <a:defRPr sz="4800" b="1" i="0" spc="600" baseline="0">
                <a:solidFill>
                  <a:schemeClr val="bg1"/>
                </a:solidFill>
                <a:highlight>
                  <a:srgbClr val="000000"/>
                </a:highlight>
                <a:latin typeface="Franklin Gothic Heavy" panose="020B0603020102020204" pitchFamily="34" charset="0"/>
              </a:defRPr>
            </a:lvl3pPr>
            <a:lvl4pPr marL="685800" indent="0">
              <a:lnSpc>
                <a:spcPct val="100000"/>
              </a:lnSpc>
              <a:buNone/>
              <a:defRPr sz="4400" b="1" i="0" spc="600" baseline="0">
                <a:solidFill>
                  <a:schemeClr val="bg1"/>
                </a:solidFill>
                <a:highlight>
                  <a:srgbClr val="000000"/>
                </a:highlight>
                <a:latin typeface="Franklin Gothic Heavy" panose="020B0603020102020204" pitchFamily="34" charset="0"/>
              </a:defRPr>
            </a:lvl4pPr>
            <a:lvl5pPr marL="914400" indent="0">
              <a:lnSpc>
                <a:spcPct val="100000"/>
              </a:lnSpc>
              <a:buNone/>
              <a:defRPr sz="4000" b="1" i="0" spc="600" baseline="0">
                <a:solidFill>
                  <a:schemeClr val="bg1"/>
                </a:solidFill>
                <a:highlight>
                  <a:srgbClr val="000000"/>
                </a:highlight>
                <a:latin typeface="Franklin Gothic Heavy" panose="020B0603020102020204" pitchFamily="34" charset="0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663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2529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961120" cy="557784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6000" b="1" i="0" spc="600" baseline="0">
                <a:solidFill>
                  <a:schemeClr val="tx1"/>
                </a:solidFill>
                <a:highlight>
                  <a:srgbClr val="FFFFFF"/>
                </a:highlight>
                <a:latin typeface="Franklin Gothic Heavy" panose="020B0603020102020204" pitchFamily="34" charset="0"/>
              </a:defRPr>
            </a:lvl1pPr>
            <a:lvl2pPr marL="228600" indent="0">
              <a:lnSpc>
                <a:spcPct val="100000"/>
              </a:lnSpc>
              <a:buNone/>
              <a:defRPr sz="5400" b="1" i="0" spc="600" baseline="0">
                <a:solidFill>
                  <a:schemeClr val="tx1"/>
                </a:solidFill>
                <a:highlight>
                  <a:srgbClr val="FFFFFF"/>
                </a:highlight>
                <a:latin typeface="Franklin Gothic Heavy" panose="020B0603020102020204" pitchFamily="34" charset="0"/>
              </a:defRPr>
            </a:lvl2pPr>
            <a:lvl3pPr marL="457200" indent="0">
              <a:lnSpc>
                <a:spcPct val="100000"/>
              </a:lnSpc>
              <a:buNone/>
              <a:defRPr sz="4800" b="1" i="0" spc="600" baseline="0">
                <a:solidFill>
                  <a:schemeClr val="tx1"/>
                </a:solidFill>
                <a:highlight>
                  <a:srgbClr val="FFFFFF"/>
                </a:highlight>
                <a:latin typeface="Franklin Gothic Heavy" panose="020B0603020102020204" pitchFamily="34" charset="0"/>
              </a:defRPr>
            </a:lvl3pPr>
            <a:lvl4pPr marL="685800" indent="0">
              <a:lnSpc>
                <a:spcPct val="100000"/>
              </a:lnSpc>
              <a:buNone/>
              <a:defRPr sz="4400" b="1" i="0" spc="600" baseline="0">
                <a:solidFill>
                  <a:schemeClr val="tx1"/>
                </a:solidFill>
                <a:highlight>
                  <a:srgbClr val="FFFFFF"/>
                </a:highlight>
                <a:latin typeface="Franklin Gothic Heavy" panose="020B0603020102020204" pitchFamily="34" charset="0"/>
              </a:defRPr>
            </a:lvl4pPr>
            <a:lvl5pPr marL="914400" indent="0">
              <a:lnSpc>
                <a:spcPct val="100000"/>
              </a:lnSpc>
              <a:buNone/>
              <a:defRPr sz="4000" b="1" i="0" spc="600" baseline="0">
                <a:solidFill>
                  <a:schemeClr val="tx1"/>
                </a:solidFill>
                <a:highlight>
                  <a:srgbClr val="FFFFFF"/>
                </a:highlight>
                <a:latin typeface="Franklin Gothic Heavy" panose="020B0603020102020204" pitchFamily="34" charset="0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83AA9C6-9BFF-802B-3D08-CAD56FB80F2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1CE83-67BA-4B15-B48A-7DC5C0636664}" type="datetime1">
              <a:rPr lang="en-US" smtClean="0"/>
              <a:pPr/>
              <a:t>4/26/26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9B3C5-25B1-DD8E-CF7E-C1D50373CF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DEB09A-6ABF-4907-9977-AB6069AE9B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615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755375"/>
            <a:ext cx="10972800" cy="5553985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 i="0" spc="600" baseline="0">
                <a:latin typeface="Franklin Gothic Heavy" panose="020B0603020102020204" pitchFamily="34" charset="0"/>
              </a:defRPr>
            </a:lvl1pPr>
            <a:lvl2pPr marL="228600" indent="0">
              <a:lnSpc>
                <a:spcPct val="100000"/>
              </a:lnSpc>
              <a:buNone/>
              <a:defRPr sz="5400" b="1" i="0" spc="600" baseline="0">
                <a:latin typeface="Franklin Gothic Heavy" panose="020B0603020102020204" pitchFamily="34" charset="0"/>
              </a:defRPr>
            </a:lvl2pPr>
            <a:lvl3pPr marL="457200" indent="0">
              <a:lnSpc>
                <a:spcPct val="100000"/>
              </a:lnSpc>
              <a:buNone/>
              <a:defRPr sz="4800" b="1" i="0" spc="600" baseline="0">
                <a:latin typeface="Franklin Gothic Heavy" panose="020B0603020102020204" pitchFamily="34" charset="0"/>
              </a:defRPr>
            </a:lvl3pPr>
            <a:lvl4pPr marL="685800" indent="0">
              <a:lnSpc>
                <a:spcPct val="100000"/>
              </a:lnSpc>
              <a:buNone/>
              <a:defRPr sz="4400" b="1" i="0" spc="600" baseline="0">
                <a:latin typeface="Franklin Gothic Heavy" panose="020B0603020102020204" pitchFamily="34" charset="0"/>
              </a:defRPr>
            </a:lvl4pPr>
            <a:lvl5pPr marL="914400" indent="0">
              <a:lnSpc>
                <a:spcPct val="100000"/>
              </a:lnSpc>
              <a:buNone/>
              <a:defRPr sz="4000" b="1" i="0" spc="600" baseline="0">
                <a:latin typeface="Franklin Gothic Heavy" panose="020B0603020102020204" pitchFamily="34" charset="0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97C173-DA31-C3C5-FF6F-C082DC0E99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D921EA-2CDB-3B88-15E1-46DEF228FD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8498F0-58CF-681B-CAC8-641E3E35D0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8552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ED47E9A-5ED0-EFA2-2AB1-8DCD288130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5428752"/>
            <a:ext cx="9189720" cy="46634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2200" cap="none" spc="0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A1702E0-62FB-C224-7CC1-48B8DC9D833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87424" y="1164194"/>
            <a:ext cx="9204960" cy="368212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cap="all" spc="600" baseline="0">
                <a:solidFill>
                  <a:schemeClr val="bg1"/>
                </a:solidFill>
                <a:highlight>
                  <a:srgbClr val="000000"/>
                </a:highlight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739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BB8AB19-AEDC-217A-D173-1E75DCDE3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349240"/>
            <a:ext cx="9198864" cy="46634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2200" cap="none" spc="0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24DB12-4761-115A-B7C3-84A7B8EA0C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3520" y="1344168"/>
            <a:ext cx="9204960" cy="329184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cap="all" spc="600" baseline="0">
                <a:solidFill>
                  <a:schemeClr val="bg1"/>
                </a:solidFill>
                <a:highlight>
                  <a:srgbClr val="FFFFFF"/>
                </a:highlight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7CA6-BC1D-429A-A289-4E939E49554A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038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EB6EFAB-F8F1-D75D-ADD0-35D3E8380B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961120" cy="46634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2200" cap="none" spc="0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28042F-A2CA-CE28-9169-9C1C2C6C0D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235710"/>
            <a:ext cx="8961438" cy="316865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cap="all" spc="600" baseline="0">
                <a:solidFill>
                  <a:schemeClr val="bg1"/>
                </a:solidFill>
                <a:highlight>
                  <a:srgbClr val="000000"/>
                </a:highlight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04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03504"/>
            <a:ext cx="10741152" cy="1132258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6F375645-3969-960F-95E9-FF521D145C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792" y="1825624"/>
            <a:ext cx="5157788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B472D51-340A-8B1E-44B0-506409708C6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72200" y="1825624"/>
            <a:ext cx="5183188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1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83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03504"/>
            <a:ext cx="10745788" cy="822960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792" y="155448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spc="200" baseline="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785DE4-AACB-128C-17BA-30E12F86F1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792" y="2194559"/>
            <a:ext cx="5157788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5448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spc="200" baseline="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3DB6B8D4-5453-863F-5D39-32D600D938E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72200" y="2194559"/>
            <a:ext cx="5183188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932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03504"/>
            <a:ext cx="10653578" cy="1132258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5040-F7E0-40EC-B8E9-CED28200FAA3}" type="datetime1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563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937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03504"/>
            <a:ext cx="3595634" cy="1757505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1792" y="2510118"/>
            <a:ext cx="3595634" cy="3794266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98063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03504"/>
            <a:ext cx="3595634" cy="221231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1792" y="2994211"/>
            <a:ext cx="3585586" cy="3266563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603504"/>
            <a:ext cx="6519080" cy="577900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196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1"/>
                </a:solidFill>
                <a:highlight>
                  <a:srgbClr val="FFFFFF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87AA-E4E6-4FC1-BAD8-09A952212C58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72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1"/>
                </a:solidFill>
                <a:highlight>
                  <a:srgbClr val="FFFFFF"/>
                </a:highligh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3"/>
            <a:ext cx="8430639" cy="1737360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F65F-0E21-48DE-8D75-4BF66A547E8E}" type="datetime1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47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D291CE83-67BA-4B15-B48A-7DC5C0636664}" type="datetime1">
              <a:rPr lang="en-US" smtClean="0"/>
              <a:pPr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47493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1926" y="6453002"/>
            <a:ext cx="379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19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349A-EBB0-12C5-F710-85B5D2F3B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54238"/>
            <a:ext cx="7876287" cy="3592629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/>
              <a:t>App Review Rating Prediction System – Project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F3255C-0802-D0C4-3178-4CC7A58E25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4616450"/>
            <a:ext cx="7377113" cy="1016000"/>
          </a:xfrm>
        </p:spPr>
        <p:txBody>
          <a:bodyPr>
            <a:normAutofit/>
          </a:bodyPr>
          <a:lstStyle/>
          <a:p>
            <a:r>
              <a:rPr lang="en-US"/>
              <a:t>Understanding user feedback through advanced prediction methods</a:t>
            </a:r>
          </a:p>
        </p:txBody>
      </p:sp>
    </p:spTree>
    <p:extLst>
      <p:ext uri="{BB962C8B-B14F-4D97-AF65-F5344CB8AC3E}">
        <p14:creationId xmlns:p14="http://schemas.microsoft.com/office/powerpoint/2010/main" val="379137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731F7-2219-D029-92B5-36A5A5EBC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801368"/>
            <a:ext cx="8602201" cy="4572000"/>
          </a:xfrm>
        </p:spPr>
        <p:txBody>
          <a:bodyPr anchor="b">
            <a:normAutofit/>
          </a:bodyPr>
          <a:lstStyle/>
          <a:p>
            <a:r>
              <a:rPr lang="en-US"/>
              <a:t>Introduction and 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22625010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Modern data center and technology background">
            <a:extLst>
              <a:ext uri="{FF2B5EF4-FFF2-40B4-BE49-F238E27FC236}">
                <a16:creationId xmlns:a16="http://schemas.microsoft.com/office/drawing/2014/main" id="{C2AC072E-FDC0-4787-A53F-F1615D50DB3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0606" r="43755" b="1"/>
          <a:stretch>
            <a:fillRect/>
          </a:stretch>
        </p:blipFill>
        <p:spPr>
          <a:xfrm>
            <a:off x="1546804" y="2427156"/>
            <a:ext cx="4186010" cy="3905381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7F0EBD-7E83-2E8E-2DD4-9A60F54D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1" y="548638"/>
            <a:ext cx="5111021" cy="249273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App Review Rating Prediction System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D3FA2-EF24-3606-CF9E-92023AB8AC67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549275"/>
            <a:ext cx="5585925" cy="5783263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Project Overview and Goal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The system predicts numeric app review ratings from free-text reviews while providing insights for non-technical stakeholders.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Software Engineering Approach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Emphasis on robust architecture, traceability, and iterative improvement in system design over standalone modeling.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Phased Project Development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Sequential phases from understanding needs, designing system, to building and evaluating machine learning models.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Outcome and Insights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Focus on design rationale, experimental learning, and system-level outcomes explaining model performance and choices.</a:t>
            </a:r>
          </a:p>
        </p:txBody>
      </p:sp>
    </p:spTree>
    <p:extLst>
      <p:ext uri="{BB962C8B-B14F-4D97-AF65-F5344CB8AC3E}">
        <p14:creationId xmlns:p14="http://schemas.microsoft.com/office/powerpoint/2010/main" val="1478939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Idea light bulb success inspiration crumpled paper">
            <a:extLst>
              <a:ext uri="{FF2B5EF4-FFF2-40B4-BE49-F238E27FC236}">
                <a16:creationId xmlns:a16="http://schemas.microsoft.com/office/drawing/2014/main" id="{3C8019D2-4C41-4100-A81F-1BBE2EB9837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tretch/>
        </p:blipFill>
        <p:spPr>
          <a:xfrm>
            <a:off x="5745480" y="1011555"/>
            <a:ext cx="6446520" cy="483489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333618-E278-0432-ED08-9FBD6325F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6053957" cy="1463040"/>
          </a:xfrm>
        </p:spPr>
        <p:txBody>
          <a:bodyPr anchor="b">
            <a:normAutofit/>
          </a:bodyPr>
          <a:lstStyle/>
          <a:p>
            <a:r>
              <a:rPr lang="en-US"/>
              <a:t>Project Goals and Motivation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95E65-FC3C-A3DB-E6BB-0F3920F5FD3D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774" y="2103120"/>
            <a:ext cx="4572000" cy="429768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Predicting App Review Ratings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The project aimed to create a machine learning system predicting ratings from unstructured app reviews.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Balancing Performance and Interpretability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An iterative approach was used to balance technical accuracy with interpretability, scalability, and maintainability.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System-Oriented Design Approach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Focus was on system-wide interactions including preprocessing, multiple models, and documented risks.</a:t>
            </a:r>
          </a:p>
        </p:txBody>
      </p:sp>
    </p:spTree>
    <p:extLst>
      <p:ext uri="{BB962C8B-B14F-4D97-AF65-F5344CB8AC3E}">
        <p14:creationId xmlns:p14="http://schemas.microsoft.com/office/powerpoint/2010/main" val="10044132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7C10A-7158-19C5-FDDA-3AE617EE2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801368"/>
            <a:ext cx="8602201" cy="45720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Phase 1 – Problem Understanding and Requirements</a:t>
            </a:r>
          </a:p>
        </p:txBody>
      </p:sp>
    </p:spTree>
    <p:extLst>
      <p:ext uri="{BB962C8B-B14F-4D97-AF65-F5344CB8AC3E}">
        <p14:creationId xmlns:p14="http://schemas.microsoft.com/office/powerpoint/2010/main" val="13757057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igital composite of world network, internet and global connection concept">
            <a:extLst>
              <a:ext uri="{FF2B5EF4-FFF2-40B4-BE49-F238E27FC236}">
                <a16:creationId xmlns:a16="http://schemas.microsoft.com/office/drawing/2014/main" id="{BE020C6B-3351-4AE7-B909-03FC40B0F46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4076" r="25632" b="-1"/>
          <a:stretch>
            <a:fillRect/>
          </a:stretch>
        </p:blipFill>
        <p:spPr>
          <a:xfrm>
            <a:off x="1546804" y="2427156"/>
            <a:ext cx="4186010" cy="3905381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95325D-08EC-F4EC-C032-4A16D2B46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1" y="548638"/>
            <a:ext cx="5111021" cy="2492735"/>
          </a:xfrm>
        </p:spPr>
        <p:txBody>
          <a:bodyPr anchor="t">
            <a:normAutofit/>
          </a:bodyPr>
          <a:lstStyle/>
          <a:p>
            <a:r>
              <a:rPr lang="en-US"/>
              <a:t>Stakeholders, Personas, and Requirements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F0367-EB86-66FC-DE52-CCA95AD4636E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549275"/>
            <a:ext cx="5585925" cy="5783263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Stakeholder Personas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Identified key personas include end users, technical staff, and management, each with distinct needs and interests.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Functional Requirements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Requirements include data ingestion, text preprocessing, prediction generation, and interpretable result presentation.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Non-Functional Requirements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Emphasis on usability, interpretability, performance for batch processing, and system maintainability over time.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Dataset Challenges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Dataset revealed class imbalance, noisy text, and prevalence of short reviews, influencing design decisions.</a:t>
            </a:r>
          </a:p>
        </p:txBody>
      </p:sp>
    </p:spTree>
    <p:extLst>
      <p:ext uri="{BB962C8B-B14F-4D97-AF65-F5344CB8AC3E}">
        <p14:creationId xmlns:p14="http://schemas.microsoft.com/office/powerpoint/2010/main" val="31583000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1FD4-491F-6DFA-996F-3CF93FA4E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801368"/>
            <a:ext cx="8602201" cy="4572000"/>
          </a:xfrm>
        </p:spPr>
        <p:txBody>
          <a:bodyPr anchor="b">
            <a:normAutofit/>
          </a:bodyPr>
          <a:lstStyle/>
          <a:p>
            <a:r>
              <a:rPr lang="en-US"/>
              <a:t>Phase 2 – Architecture and Planning</a:t>
            </a:r>
          </a:p>
        </p:txBody>
      </p:sp>
    </p:spTree>
    <p:extLst>
      <p:ext uri="{BB962C8B-B14F-4D97-AF65-F5344CB8AC3E}">
        <p14:creationId xmlns:p14="http://schemas.microsoft.com/office/powerpoint/2010/main" val="11193705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Female drawing flow chart">
            <a:extLst>
              <a:ext uri="{FF2B5EF4-FFF2-40B4-BE49-F238E27FC236}">
                <a16:creationId xmlns:a16="http://schemas.microsoft.com/office/drawing/2014/main" id="{82A9A6D1-F9F3-4C69-A4E2-F86FB62163B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2715" r="17078"/>
          <a:stretch>
            <a:fillRect/>
          </a:stretch>
        </p:blipFill>
        <p:spPr>
          <a:xfrm>
            <a:off x="1546804" y="2427156"/>
            <a:ext cx="4186010" cy="3905381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EB4FC2-CD86-BA1D-A0C9-8CAC0D0AB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1" y="548638"/>
            <a:ext cx="5111021" cy="249273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System Architecture and Planning Artifacts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29AC9-8376-0A11-DAAE-A7B7D52F5A4C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549275"/>
            <a:ext cx="5585925" cy="5783263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System Context Diagram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Defines system boundaries and shows interactions with external users, data sources, and ML services.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Component Diagram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Decomposes system into key responsibilities like data ingestion, preprocessing, ML pipeline, and visualization.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Success Criteria and Risk Management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Includes a success criteria matrix for traceability and a formal risk register for technical and organizational risks.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Iteration and Experimentation Plan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Guides disciplined, reproducible experimentation aligned with stakeholder needs through phased iterations.</a:t>
            </a:r>
          </a:p>
        </p:txBody>
      </p:sp>
    </p:spTree>
    <p:extLst>
      <p:ext uri="{BB962C8B-B14F-4D97-AF65-F5344CB8AC3E}">
        <p14:creationId xmlns:p14="http://schemas.microsoft.com/office/powerpoint/2010/main" val="8372980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9046C-99C1-81C4-1766-0913B4E39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801368"/>
            <a:ext cx="8602201" cy="4572000"/>
          </a:xfrm>
        </p:spPr>
        <p:txBody>
          <a:bodyPr anchor="b">
            <a:normAutofit/>
          </a:bodyPr>
          <a:lstStyle/>
          <a:p>
            <a:r>
              <a:rPr lang="en-US"/>
              <a:t>Phase 3 – Modeling and Experimentation</a:t>
            </a:r>
          </a:p>
        </p:txBody>
      </p:sp>
    </p:spTree>
    <p:extLst>
      <p:ext uri="{BB962C8B-B14F-4D97-AF65-F5344CB8AC3E}">
        <p14:creationId xmlns:p14="http://schemas.microsoft.com/office/powerpoint/2010/main" val="14029973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ropped shot of a young computer programmer looking through data">
            <a:extLst>
              <a:ext uri="{FF2B5EF4-FFF2-40B4-BE49-F238E27FC236}">
                <a16:creationId xmlns:a16="http://schemas.microsoft.com/office/drawing/2014/main" id="{918377A1-D45B-461C-B0A8-2BEE1B5B239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2045" r="28794" b="-2"/>
          <a:stretch>
            <a:fillRect/>
          </a:stretch>
        </p:blipFill>
        <p:spPr>
          <a:xfrm>
            <a:off x="20" y="1"/>
            <a:ext cx="402334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C092D3-CB33-6F75-C2E6-AECA3C407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1537" y="320039"/>
            <a:ext cx="8502199" cy="1258389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Baseline and Pipeline-Based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9A962-7CAA-0B3B-C09A-BF8FD05CBAEC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745736" y="1725386"/>
            <a:ext cx="6858000" cy="463883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Baseline Model Performance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The baseline linear regression model showed poor results on noisy, imbalanced text with negative R-squared and high errors.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Pipeline-Based Ensemble Models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Decision forest and boosted trees introduced non-linear and ensemble methods, yielding modest improvements over baseline.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Impact of Feature Engineering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Introducing unigram n-gram text feature extraction significantly improved model performance beyond algorithm choice.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Importance of Preprocessing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Preprocessing and feature engineering are crucial for improving model outcomes on complex, noisy text data.</a:t>
            </a:r>
          </a:p>
        </p:txBody>
      </p:sp>
    </p:spTree>
    <p:extLst>
      <p:ext uri="{BB962C8B-B14F-4D97-AF65-F5344CB8AC3E}">
        <p14:creationId xmlns:p14="http://schemas.microsoft.com/office/powerpoint/2010/main" val="33551317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fourth industrial revolution technology concept">
            <a:extLst>
              <a:ext uri="{FF2B5EF4-FFF2-40B4-BE49-F238E27FC236}">
                <a16:creationId xmlns:a16="http://schemas.microsoft.com/office/drawing/2014/main" id="{F95F7EDD-5585-4AE3-BBC7-B79CC0EE52D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4621" r="25086" b="-1"/>
          <a:stretch>
            <a:fillRect/>
          </a:stretch>
        </p:blipFill>
        <p:spPr>
          <a:xfrm>
            <a:off x="1546804" y="2427156"/>
            <a:ext cx="4186010" cy="3905381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8F827D-C0F3-6F20-84E9-20E0BC454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1" y="548638"/>
            <a:ext cx="5111021" cy="2492735"/>
          </a:xfrm>
        </p:spPr>
        <p:txBody>
          <a:bodyPr anchor="t">
            <a:normAutofit/>
          </a:bodyPr>
          <a:lstStyle/>
          <a:p>
            <a:r>
              <a:rPr lang="en-US" sz="3700"/>
              <a:t>AutoML Models and Advanced Feature Engineering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EA41E-D157-2181-414B-8404A3392B21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549275"/>
            <a:ext cx="5585925" cy="5783263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AutoML Model Evaluation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Phase 3 evaluated AutoML models XGBoost and LightGBM for regression tasks using advanced pipelines.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Advanced Feature Engineering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Automated pipelines included TF-IDF features, numeric imputation, categorical encoding, and feature scaling.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LightGBM Advantages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LightGBM excelled due to handling sparse data and its leaf-wise tree growth strategy for better generalization.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Architectural Pipeline Abstraction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Maintaining pipeline abstraction allowed flexibility to evaluate different model implementations without redesign.</a:t>
            </a:r>
          </a:p>
        </p:txBody>
      </p:sp>
    </p:spTree>
    <p:extLst>
      <p:ext uri="{BB962C8B-B14F-4D97-AF65-F5344CB8AC3E}">
        <p14:creationId xmlns:p14="http://schemas.microsoft.com/office/powerpoint/2010/main" val="19446722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295C-F767-F5CD-E3E6-FD2F4CCD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801368"/>
            <a:ext cx="8602201" cy="4572000"/>
          </a:xfrm>
        </p:spPr>
        <p:txBody>
          <a:bodyPr anchor="b">
            <a:normAutofit/>
          </a:bodyPr>
          <a:lstStyle/>
          <a:p>
            <a:r>
              <a:rPr lang="en-US"/>
              <a:t>Challenges, Learnings, and Comparative Outcomes</a:t>
            </a:r>
          </a:p>
        </p:txBody>
      </p:sp>
    </p:spTree>
    <p:extLst>
      <p:ext uri="{BB962C8B-B14F-4D97-AF65-F5344CB8AC3E}">
        <p14:creationId xmlns:p14="http://schemas.microsoft.com/office/powerpoint/2010/main" val="458566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Red Communication bubbles with copy space are connected each other with black arrows. This image shows the social media, and online communication between people.">
            <a:extLst>
              <a:ext uri="{FF2B5EF4-FFF2-40B4-BE49-F238E27FC236}">
                <a16:creationId xmlns:a16="http://schemas.microsoft.com/office/drawing/2014/main" id="{5F9ACCAB-C026-4D4A-B884-1BA57195754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tretch/>
        </p:blipFill>
        <p:spPr>
          <a:xfrm>
            <a:off x="0" y="736115"/>
            <a:ext cx="4076700" cy="272119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80328C-8613-C2A2-8DA1-A4B8B72FF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91" y="3786474"/>
            <a:ext cx="4169890" cy="161400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Key Challenges and Iterative Learning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95FE4-4EFC-3E85-8E7D-77918CB75887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499291" y="914400"/>
            <a:ext cx="5773936" cy="502920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Pipeline Stability Challenges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Small changes in preprocessing often caused cascading effects impacting pipeline stability in Azure ML Designer.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Memory Issues with N-grams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Introducing n-gram features caused out-of-memory errors, requiring iterative constraint adjustments and log analysis.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Minimal Gains from Some Experiments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Some successful experiments, like stopword removal or algorithm changes, yielded minimal performance improvements.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Tooling Limitations Impact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/>
              <a:t>Tooling constraints required proxies and clear documentation to address dynamic filtering limitations in production.</a:t>
            </a:r>
          </a:p>
        </p:txBody>
      </p:sp>
    </p:spTree>
    <p:extLst>
      <p:ext uri="{BB962C8B-B14F-4D97-AF65-F5344CB8AC3E}">
        <p14:creationId xmlns:p14="http://schemas.microsoft.com/office/powerpoint/2010/main" val="39974177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381C-96CC-1452-132D-2982C17D2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801368"/>
            <a:ext cx="8602201" cy="4572000"/>
          </a:xfrm>
        </p:spPr>
        <p:txBody>
          <a:bodyPr anchor="b">
            <a:normAutofit/>
          </a:bodyPr>
          <a:lstStyle/>
          <a:p>
            <a:r>
              <a:rPr lang="en-US"/>
              <a:t>Conclusion and Final Outcomes</a:t>
            </a:r>
          </a:p>
        </p:txBody>
      </p:sp>
    </p:spTree>
    <p:extLst>
      <p:ext uri="{BB962C8B-B14F-4D97-AF65-F5344CB8AC3E}">
        <p14:creationId xmlns:p14="http://schemas.microsoft.com/office/powerpoint/2010/main" val="2328088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19578-101B-FC70-04D5-DD6593AFC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Final Outcomes and System Readiness</a:t>
            </a:r>
          </a:p>
        </p:txBody>
      </p:sp>
      <p:pic>
        <p:nvPicPr>
          <p:cNvPr id="5" name="Content Placeholder 4" descr="People working">
            <a:extLst>
              <a:ext uri="{FF2B5EF4-FFF2-40B4-BE49-F238E27FC236}">
                <a16:creationId xmlns:a16="http://schemas.microsoft.com/office/drawing/2014/main" id="{DAC44EF2-F927-4FD5-A750-359FC80F8053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622300" y="2282451"/>
            <a:ext cx="5157788" cy="3437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60A56-836F-D789-BE59-032C6E078283}"/>
              </a:ext>
            </a:extLst>
          </p:cNvPr>
          <p:cNvSpPr>
            <a:spLocks noGrp="1"/>
          </p:cNvSpPr>
          <p:nvPr>
            <p:ph sz="quarter" idx="16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Cohesive System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The project resulted in a cohesive, well-documented machine learning system rather than isolated experiments.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Performance Evaluation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Comparative model evaluation identified LightGBM as the top candidate for system integration.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Disciplined Engineering Practices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Success depended on controlled experimentation, data preprocessing, and clear documentation of decisions.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Future System Refinement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The system is ready for enhancements like categorization and integration of additional data sources.</a:t>
            </a:r>
          </a:p>
        </p:txBody>
      </p:sp>
    </p:spTree>
    <p:extLst>
      <p:ext uri="{BB962C8B-B14F-4D97-AF65-F5344CB8AC3E}">
        <p14:creationId xmlns:p14="http://schemas.microsoft.com/office/powerpoint/2010/main" val="3373100628"/>
      </p:ext>
    </p:extLst>
  </p:cSld>
  <p:clrMapOvr>
    <a:masterClrMapping/>
  </p:clrMapOvr>
</p:sld>
</file>

<file path=ppt/theme/theme1.xml><?xml version="1.0" encoding="utf-8"?>
<a:theme xmlns:a="http://schemas.openxmlformats.org/drawingml/2006/main" name="Citation">
  <a:themeElements>
    <a:clrScheme name="Citation Design">
      <a:dk1>
        <a:srgbClr val="000000"/>
      </a:dk1>
      <a:lt1>
        <a:srgbClr val="FFFFFF"/>
      </a:lt1>
      <a:dk2>
        <a:srgbClr val="01375D"/>
      </a:dk2>
      <a:lt2>
        <a:srgbClr val="F3F2EF"/>
      </a:lt2>
      <a:accent1>
        <a:srgbClr val="585142"/>
      </a:accent1>
      <a:accent2>
        <a:srgbClr val="C1B4A1"/>
      </a:accent2>
      <a:accent3>
        <a:srgbClr val="815B42"/>
      </a:accent3>
      <a:accent4>
        <a:srgbClr val="73582F"/>
      </a:accent4>
      <a:accent5>
        <a:srgbClr val="58393C"/>
      </a:accent5>
      <a:accent6>
        <a:srgbClr val="85584E"/>
      </a:accent6>
      <a:hlink>
        <a:srgbClr val="E05C37"/>
      </a:hlink>
      <a:folHlink>
        <a:srgbClr val="2E9884"/>
      </a:folHlink>
    </a:clrScheme>
    <a:fontScheme name="Custom 62">
      <a:majorFont>
        <a:latin typeface="Franklin Gothic Heavy"/>
        <a:ea typeface=""/>
        <a:cs typeface=""/>
      </a:majorFont>
      <a:minorFont>
        <a:latin typeface="Selaw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ation design_CoPilot Updates_win32_EF_v8" id="{9DEE9FBB-DC1C-45AA-8B67-111DE4A99BF2}" vid="{E71669C5-CDD3-48AC-A69A-CB015CAC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702</Words>
  <Application>Microsoft Macintosh PowerPoint</Application>
  <PresentationFormat>Widescreen</PresentationFormat>
  <Paragraphs>93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Franklin Gothic Heavy</vt:lpstr>
      <vt:lpstr>Franklin Gothic Medium</vt:lpstr>
      <vt:lpstr>Selawik</vt:lpstr>
      <vt:lpstr>Citation</vt:lpstr>
      <vt:lpstr>App Review Rating Prediction System – Project Overview</vt:lpstr>
      <vt:lpstr>Introduction and Project Overview</vt:lpstr>
      <vt:lpstr>App Review Rating Prediction System</vt:lpstr>
      <vt:lpstr>Project Goals and Motivation</vt:lpstr>
      <vt:lpstr>Phase 1 – Problem Understanding and Requirements</vt:lpstr>
      <vt:lpstr>Stakeholders, Personas, and Requirements</vt:lpstr>
      <vt:lpstr>Phase 2 – Architecture and Planning</vt:lpstr>
      <vt:lpstr>System Architecture and Planning Artifacts</vt:lpstr>
      <vt:lpstr>Phase 3 – Modeling and Experimentation</vt:lpstr>
      <vt:lpstr>Baseline and Pipeline-Based Models</vt:lpstr>
      <vt:lpstr>AutoML Models and Advanced Feature Engineering</vt:lpstr>
      <vt:lpstr>Challenges, Learnings, and Comparative Outcomes</vt:lpstr>
      <vt:lpstr>Key Challenges and Iterative Learning</vt:lpstr>
      <vt:lpstr>Conclusion and Final Outcomes</vt:lpstr>
      <vt:lpstr>Final Outcomes and System Readiness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stonesiferb@uncw.edu</dc:creator>
  <cp:lastModifiedBy>Stonesifer, Brandon L 1LT USARMY (USA)</cp:lastModifiedBy>
  <cp:revision>2</cp:revision>
  <dcterms:modified xsi:type="dcterms:W3CDTF">2026-04-26T14:46:53Z</dcterms:modified>
</cp:coreProperties>
</file>